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7" r:id="rId13"/>
  </p:sldIdLst>
  <p:sldSz cx="12192000" cy="6858000"/>
  <p:notesSz cx="6858000" cy="9144000"/>
  <p:embeddedFontLst>
    <p:embeddedFont>
      <p:font typeface="Cambria" panose="02040503050406030204" pitchFamily="18" charset="0"/>
      <p:regular r:id="rId15"/>
      <p:bold r:id="rId16"/>
      <p:italic r:id="rId17"/>
      <p:boldItalic r:id="rId18"/>
    </p:embeddedFont>
    <p:embeddedFont>
      <p:font typeface="Work Sans" pitchFamily="2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95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187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6" roundtripDataSignature="AMtx7miS/7QK5yfIy9KnDfO5aKHbjyEL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99FF"/>
    <a:srgbClr val="FFCCFF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595"/>
        <p:guide pos="3840"/>
        <p:guide orient="horz" pos="18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CO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958f4a72c5_0_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2" name="Google Shape;92;g3958f4a72c5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8" name="Google Shape;9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962abf5e38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g3962abf5e3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962abf5e38_0_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1" name="Google Shape;111;g3962abf5e38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8" name="Google Shape;11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4" name="Google Shape;12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a8cb5ef095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g3a8cb5ef09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a8cb5ef095_0_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7" name="Google Shape;137;g3a8cb5ef095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a8cb5ef095_0_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3" name="Google Shape;143;g3a8cb5ef095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>
          <a:extLst>
            <a:ext uri="{FF2B5EF4-FFF2-40B4-BE49-F238E27FC236}">
              <a16:creationId xmlns:a16="http://schemas.microsoft.com/office/drawing/2014/main" id="{15DC2E37-024C-33CF-CCDF-9A9A7E048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a8cb5ef095_0_11:notes">
            <a:extLst>
              <a:ext uri="{FF2B5EF4-FFF2-40B4-BE49-F238E27FC236}">
                <a16:creationId xmlns:a16="http://schemas.microsoft.com/office/drawing/2014/main" id="{EC37295F-2E7D-4AF3-6A15-126E6AFD08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3" name="Google Shape;143;g3a8cb5ef095_0_11:notes">
            <a:extLst>
              <a:ext uri="{FF2B5EF4-FFF2-40B4-BE49-F238E27FC236}">
                <a16:creationId xmlns:a16="http://schemas.microsoft.com/office/drawing/2014/main" id="{603BFBB0-9EE4-47A9-1D0F-B5792FC98F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679491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5" name="Google Shape;15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0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2" name="Google Shape;22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4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4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14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14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14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9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/>
        </p:nvSpPr>
        <p:spPr>
          <a:xfrm>
            <a:off x="963672" y="2551837"/>
            <a:ext cx="6453600" cy="2303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O" sz="5400" b="1" dirty="0" err="1">
                <a:solidFill>
                  <a:srgbClr val="404040"/>
                </a:solidFill>
              </a:rPr>
              <a:t>CentralGuard</a:t>
            </a:r>
            <a:endParaRPr dirty="0"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400" b="1" i="0" u="none" strike="noStrike" cap="none" dirty="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Guardianes de tu confianza.</a:t>
            </a:r>
            <a:endParaRPr sz="2400" b="1" i="0" u="none" strike="noStrike" cap="none" dirty="0">
              <a:solidFill>
                <a:srgbClr val="40404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5400"/>
              <a:buFont typeface="Work Sans"/>
              <a:buNone/>
            </a:pPr>
            <a:endParaRPr sz="5400" b="1" i="0" u="none" strike="noStrike" cap="none" dirty="0">
              <a:solidFill>
                <a:srgbClr val="3F3F3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6542600" y="3950375"/>
            <a:ext cx="4712400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419" sz="1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Kevin </a:t>
            </a:r>
            <a:r>
              <a:rPr lang="es-419" sz="14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Adrian</a:t>
            </a:r>
            <a:r>
              <a:rPr lang="es-419" sz="1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Enciso </a:t>
            </a:r>
            <a:r>
              <a:rPr lang="es-419" sz="14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Enciso</a:t>
            </a:r>
            <a:endParaRPr dirty="0"/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CO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Jesús Daniel Reyes </a:t>
            </a:r>
            <a:r>
              <a:rPr lang="es-CO" dirty="0" err="1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Tobasura</a:t>
            </a:r>
            <a:endParaRPr dirty="0"/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Paula Camila Suárez Ramos</a:t>
            </a: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Angie Paola Fajardo Cuadros</a:t>
            </a:r>
            <a:endParaRPr sz="1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958f4a72c5_0_3"/>
          <p:cNvSpPr txBox="1"/>
          <p:nvPr/>
        </p:nvSpPr>
        <p:spPr>
          <a:xfrm>
            <a:off x="1022700" y="2639150"/>
            <a:ext cx="101466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ork Sans"/>
              <a:buNone/>
            </a:pPr>
            <a:r>
              <a:rPr lang="es-CO" sz="6000" b="1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Objetivo general</a:t>
            </a:r>
            <a:endParaRPr sz="7200" b="1" i="0" u="none" strike="noStrike" cap="non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95" name="Google Shape;95;g3958f4a72c5_0_3"/>
          <p:cNvCxnSpPr/>
          <p:nvPr/>
        </p:nvCxnSpPr>
        <p:spPr>
          <a:xfrm>
            <a:off x="1286000" y="3741925"/>
            <a:ext cx="10157400" cy="597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"/>
          <p:cNvSpPr txBox="1"/>
          <p:nvPr/>
        </p:nvSpPr>
        <p:spPr>
          <a:xfrm>
            <a:off x="456236" y="416689"/>
            <a:ext cx="9815809" cy="741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D4D4C"/>
              </a:buClr>
              <a:buSzPts val="3600"/>
              <a:buFont typeface="Work Sans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5"/>
          <p:cNvSpPr txBox="1"/>
          <p:nvPr/>
        </p:nvSpPr>
        <p:spPr>
          <a:xfrm>
            <a:off x="942450" y="2372685"/>
            <a:ext cx="10307100" cy="2000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endParaRPr sz="23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endParaRPr sz="23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 algn="ctr"/>
            <a:r>
              <a:rPr lang="es-419" sz="2400" dirty="0">
                <a:solidFill>
                  <a:schemeClr val="dk1"/>
                </a:solidFill>
              </a:rPr>
              <a:t>Desarrollar un software denominado </a:t>
            </a:r>
            <a:r>
              <a:rPr lang="es-419" sz="2400" i="1" dirty="0" err="1">
                <a:solidFill>
                  <a:schemeClr val="dk1"/>
                </a:solidFill>
              </a:rPr>
              <a:t>CentralGuard</a:t>
            </a:r>
            <a:r>
              <a:rPr lang="es-419" sz="2400" i="1" dirty="0">
                <a:solidFill>
                  <a:schemeClr val="dk1"/>
                </a:solidFill>
              </a:rPr>
              <a:t> </a:t>
            </a:r>
            <a:r>
              <a:rPr lang="es-419" sz="2400" dirty="0">
                <a:solidFill>
                  <a:schemeClr val="dk1"/>
                </a:solidFill>
              </a:rPr>
              <a:t>que permita la optimización de seguridad,</a:t>
            </a:r>
            <a:r>
              <a:rPr lang="es-419" sz="2400" dirty="0"/>
              <a:t> el control de accesos, el personal y la gestión operativa de complejos residenciales.</a:t>
            </a:r>
            <a:endParaRPr lang="es-419" sz="2400" dirty="0">
              <a:solidFill>
                <a:schemeClr val="dk1"/>
              </a:solidFill>
            </a:endParaRPr>
          </a:p>
        </p:txBody>
      </p:sp>
      <p:sp>
        <p:nvSpPr>
          <p:cNvPr id="102" name="Google Shape;102;p5"/>
          <p:cNvSpPr txBox="1"/>
          <p:nvPr/>
        </p:nvSpPr>
        <p:spPr>
          <a:xfrm>
            <a:off x="625796" y="1447365"/>
            <a:ext cx="100062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s-CO" sz="6000" b="1" i="0" u="none" strike="noStrike" cap="none" dirty="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Objetivo general</a:t>
            </a:r>
            <a:endParaRPr sz="7200" b="1" i="0" u="none" strike="noStrike" cap="none" dirty="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962abf5e38_0_0"/>
          <p:cNvSpPr txBox="1"/>
          <p:nvPr/>
        </p:nvSpPr>
        <p:spPr>
          <a:xfrm>
            <a:off x="1022700" y="2639150"/>
            <a:ext cx="101466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ork Sans"/>
              <a:buNone/>
            </a:pPr>
            <a:r>
              <a:rPr lang="es-CO" sz="6000" b="1" i="0" u="none" strike="noStrike" cap="none" dirty="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Objetivo </a:t>
            </a:r>
            <a:r>
              <a:rPr lang="es-CO" sz="6000" b="1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especificos</a:t>
            </a:r>
            <a:endParaRPr sz="7200" b="1" i="0" u="none" strike="noStrike" cap="none" dirty="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08" name="Google Shape;108;g3962abf5e38_0_0"/>
          <p:cNvCxnSpPr/>
          <p:nvPr/>
        </p:nvCxnSpPr>
        <p:spPr>
          <a:xfrm>
            <a:off x="1286000" y="3741925"/>
            <a:ext cx="10157400" cy="597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962abf5e38_0_5"/>
          <p:cNvSpPr txBox="1"/>
          <p:nvPr/>
        </p:nvSpPr>
        <p:spPr>
          <a:xfrm>
            <a:off x="456236" y="416689"/>
            <a:ext cx="9815700" cy="7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D4D4C"/>
              </a:buClr>
              <a:buSzPts val="3600"/>
              <a:buFont typeface="Work Sans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g3962abf5e38_0_5"/>
          <p:cNvSpPr txBox="1"/>
          <p:nvPr/>
        </p:nvSpPr>
        <p:spPr>
          <a:xfrm>
            <a:off x="1092900" y="787489"/>
            <a:ext cx="100062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s-CO" sz="6000" b="1" i="0" u="none" strike="noStrike" cap="none" dirty="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Objetivos específicos</a:t>
            </a:r>
            <a:endParaRPr sz="7200" b="1" i="0" u="none" strike="noStrike" cap="none" dirty="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DE6DA21-1E3B-43C7-846C-E1894A4AB3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225" y="3032735"/>
            <a:ext cx="11249550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s-CO" sz="1800" b="1" dirty="0"/>
              <a:t>Gestión Operativa:</a:t>
            </a:r>
            <a:r>
              <a:rPr lang="es-CO" sz="1800" dirty="0"/>
              <a:t> Digitalizar el control de accesos, rondas y novedades bajo un modelo de datos normalizado.</a:t>
            </a:r>
          </a:p>
          <a:p>
            <a:r>
              <a:rPr lang="es-CO" sz="1800" b="1" dirty="0"/>
              <a:t>Control de Roles:</a:t>
            </a:r>
            <a:r>
              <a:rPr lang="es-CO" sz="1800" dirty="0"/>
              <a:t> Implementar acceso jerárquico para Administradores, Supervisores y Vigilantes.</a:t>
            </a:r>
          </a:p>
          <a:p>
            <a:r>
              <a:rPr lang="es-CO" sz="1800" b="1" dirty="0"/>
              <a:t>Análisis de Datos:</a:t>
            </a:r>
            <a:r>
              <a:rPr lang="es-CO" sz="1800" dirty="0"/>
              <a:t> Generar reportes para facilitar la toma de decisiones.</a:t>
            </a:r>
          </a:p>
          <a:p>
            <a:r>
              <a:rPr lang="es-CO" sz="1800" b="1" dirty="0"/>
              <a:t>Rendimiento y Escalabilidad:</a:t>
            </a:r>
            <a:r>
              <a:rPr lang="es-CO" sz="1800" dirty="0"/>
              <a:t> Asegurar alta disponibilidad y tiempos de respuesta óptimos ante el crecimiento de usuarios.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419" altLang="es-419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"/>
          <p:cNvSpPr txBox="1"/>
          <p:nvPr/>
        </p:nvSpPr>
        <p:spPr>
          <a:xfrm>
            <a:off x="1022700" y="2608175"/>
            <a:ext cx="10146600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ork Sans"/>
              <a:buNone/>
            </a:pPr>
            <a:r>
              <a:rPr lang="es-CO" sz="7200" b="1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Pregunta problema</a:t>
            </a:r>
            <a:endParaRPr sz="7200" b="1" i="0" u="none" strike="noStrike" cap="non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21" name="Google Shape;121;p2"/>
          <p:cNvCxnSpPr/>
          <p:nvPr/>
        </p:nvCxnSpPr>
        <p:spPr>
          <a:xfrm>
            <a:off x="1286000" y="3741925"/>
            <a:ext cx="10157400" cy="597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"/>
          <p:cNvSpPr txBox="1"/>
          <p:nvPr/>
        </p:nvSpPr>
        <p:spPr>
          <a:xfrm>
            <a:off x="456236" y="416689"/>
            <a:ext cx="9815809" cy="741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D4D4C"/>
              </a:buClr>
              <a:buSzPts val="3600"/>
              <a:buFont typeface="Work Sans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4"/>
          <p:cNvSpPr txBox="1"/>
          <p:nvPr/>
        </p:nvSpPr>
        <p:spPr>
          <a:xfrm>
            <a:off x="1277301" y="2336624"/>
            <a:ext cx="10307100" cy="2508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endParaRPr sz="23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r>
              <a:rPr lang="es-419" sz="3200" dirty="0"/>
              <a:t>¿De qué manera se puede optimizar la vigilancia y la comunicación en tiempo real entre vigilantes, supervisores y administradores mediante un software de seguridad?</a:t>
            </a:r>
          </a:p>
        </p:txBody>
      </p:sp>
      <p:sp>
        <p:nvSpPr>
          <p:cNvPr id="128" name="Google Shape;128;p4"/>
          <p:cNvSpPr txBox="1"/>
          <p:nvPr/>
        </p:nvSpPr>
        <p:spPr>
          <a:xfrm>
            <a:off x="772100" y="1158250"/>
            <a:ext cx="10006200" cy="1292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s-CO" sz="7200" b="1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Pregunta Problema</a:t>
            </a:r>
            <a:endParaRPr sz="7200" b="1" i="0" u="none" strike="noStrike" cap="none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a8cb5ef095_0_0"/>
          <p:cNvSpPr txBox="1"/>
          <p:nvPr/>
        </p:nvSpPr>
        <p:spPr>
          <a:xfrm>
            <a:off x="1022700" y="2608175"/>
            <a:ext cx="101466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ork Sans"/>
              <a:buNone/>
            </a:pPr>
            <a:r>
              <a:rPr lang="es-CO" sz="7200" b="1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Modulos</a:t>
            </a:r>
            <a:endParaRPr sz="7200" b="1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34" name="Google Shape;134;g3a8cb5ef095_0_0"/>
          <p:cNvCxnSpPr/>
          <p:nvPr/>
        </p:nvCxnSpPr>
        <p:spPr>
          <a:xfrm>
            <a:off x="1286000" y="3741925"/>
            <a:ext cx="10157400" cy="597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a8cb5ef095_0_5"/>
          <p:cNvSpPr txBox="1"/>
          <p:nvPr/>
        </p:nvSpPr>
        <p:spPr>
          <a:xfrm>
            <a:off x="456236" y="1008112"/>
            <a:ext cx="9815700" cy="7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lnSpc>
                <a:spcPct val="107916"/>
              </a:lnSpc>
              <a:buClr>
                <a:schemeClr val="dk1"/>
              </a:buClr>
              <a:buSzPts val="1100"/>
            </a:pPr>
            <a:r>
              <a:rPr lang="es-CO" sz="3600" b="1" dirty="0"/>
              <a:t>Módulo 1 –</a:t>
            </a:r>
            <a:r>
              <a:rPr lang="es-CO" sz="3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Inventarios</a:t>
            </a:r>
            <a:endParaRPr sz="39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40" name="Google Shape;140;g3a8cb5ef095_0_5"/>
          <p:cNvSpPr txBox="1"/>
          <p:nvPr/>
        </p:nvSpPr>
        <p:spPr>
          <a:xfrm>
            <a:off x="456236" y="1749712"/>
            <a:ext cx="10307100" cy="1020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s-419" sz="2000" b="1" dirty="0"/>
              <a:t>Objetivo:</a:t>
            </a:r>
            <a:r>
              <a:rPr lang="es-419" sz="2000" dirty="0"/>
              <a:t> Administrar la asignación, entrega y seguimiento de equipos o elementos de trabajo.</a:t>
            </a:r>
            <a:endParaRPr lang="es-419" sz="2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6" name="Google Shape;139;g3a8cb5ef095_0_5">
            <a:extLst>
              <a:ext uri="{FF2B5EF4-FFF2-40B4-BE49-F238E27FC236}">
                <a16:creationId xmlns:a16="http://schemas.microsoft.com/office/drawing/2014/main" id="{BBE5D875-CC26-44AA-B028-E3B5C2BC3C7C}"/>
              </a:ext>
            </a:extLst>
          </p:cNvPr>
          <p:cNvSpPr txBox="1"/>
          <p:nvPr/>
        </p:nvSpPr>
        <p:spPr>
          <a:xfrm>
            <a:off x="456236" y="3188010"/>
            <a:ext cx="9815700" cy="7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3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Módulo 2 – </a:t>
            </a:r>
            <a:r>
              <a:rPr lang="es-419" sz="36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Personal</a:t>
            </a:r>
            <a:endParaRPr sz="39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Google Shape;140;g3a8cb5ef095_0_5">
            <a:extLst>
              <a:ext uri="{FF2B5EF4-FFF2-40B4-BE49-F238E27FC236}">
                <a16:creationId xmlns:a16="http://schemas.microsoft.com/office/drawing/2014/main" id="{9D952508-3840-44A9-B072-ACB488662C87}"/>
              </a:ext>
            </a:extLst>
          </p:cNvPr>
          <p:cNvSpPr txBox="1"/>
          <p:nvPr/>
        </p:nvSpPr>
        <p:spPr>
          <a:xfrm>
            <a:off x="456236" y="4087527"/>
            <a:ext cx="10307100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s-419" sz="2000" b="1" dirty="0"/>
              <a:t>Objetivo:</a:t>
            </a:r>
            <a:r>
              <a:rPr lang="es-419" sz="2000" dirty="0"/>
              <a:t> Gestionar la información laboral, contratos, historial, advertencias y desempeño de los trabajadores.</a:t>
            </a:r>
            <a:endParaRPr lang="es-CO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39;g3a8cb5ef095_0_5">
            <a:extLst>
              <a:ext uri="{FF2B5EF4-FFF2-40B4-BE49-F238E27FC236}">
                <a16:creationId xmlns:a16="http://schemas.microsoft.com/office/drawing/2014/main" id="{4623004B-3624-4A14-9A6C-7EBD2462AE41}"/>
              </a:ext>
            </a:extLst>
          </p:cNvPr>
          <p:cNvSpPr txBox="1"/>
          <p:nvPr/>
        </p:nvSpPr>
        <p:spPr>
          <a:xfrm>
            <a:off x="456236" y="1171655"/>
            <a:ext cx="9815700" cy="7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lnSpc>
                <a:spcPct val="107916"/>
              </a:lnSpc>
              <a:buClr>
                <a:schemeClr val="dk1"/>
              </a:buClr>
              <a:buSzPts val="1100"/>
            </a:pPr>
            <a:r>
              <a:rPr lang="es-CO" sz="3600" b="1" dirty="0"/>
              <a:t>Módulo 3 –</a:t>
            </a:r>
            <a:r>
              <a:rPr lang="es-CO" sz="3600" b="1" dirty="0">
                <a:solidFill>
                  <a:srgbClr val="CCCCFF"/>
                </a:solidFill>
              </a:rPr>
              <a:t> Operación diaria</a:t>
            </a:r>
            <a:endParaRPr sz="3900" b="1" dirty="0">
              <a:solidFill>
                <a:srgbClr val="CCCCFF"/>
              </a:solidFill>
            </a:endParaRPr>
          </a:p>
        </p:txBody>
      </p:sp>
      <p:sp>
        <p:nvSpPr>
          <p:cNvPr id="5" name="Google Shape;140;g3a8cb5ef095_0_5">
            <a:extLst>
              <a:ext uri="{FF2B5EF4-FFF2-40B4-BE49-F238E27FC236}">
                <a16:creationId xmlns:a16="http://schemas.microsoft.com/office/drawing/2014/main" id="{A59DB020-F08C-45AC-A87A-4373E8A611CB}"/>
              </a:ext>
            </a:extLst>
          </p:cNvPr>
          <p:cNvSpPr txBox="1"/>
          <p:nvPr/>
        </p:nvSpPr>
        <p:spPr>
          <a:xfrm>
            <a:off x="456236" y="1876521"/>
            <a:ext cx="103071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s-419" sz="2000" b="1" dirty="0"/>
              <a:t>Objetivo:</a:t>
            </a:r>
            <a:r>
              <a:rPr lang="es-419" sz="2000" dirty="0"/>
              <a:t> Controlar turnos, rondas, accesos vehiculares y registros de ingreso en campo.</a:t>
            </a:r>
            <a:endParaRPr lang="es-CO" sz="2000" dirty="0"/>
          </a:p>
        </p:txBody>
      </p:sp>
      <p:sp>
        <p:nvSpPr>
          <p:cNvPr id="6" name="Google Shape;139;g3a8cb5ef095_0_5">
            <a:extLst>
              <a:ext uri="{FF2B5EF4-FFF2-40B4-BE49-F238E27FC236}">
                <a16:creationId xmlns:a16="http://schemas.microsoft.com/office/drawing/2014/main" id="{48029674-C89E-4794-9BF4-CD07C9D46B8B}"/>
              </a:ext>
            </a:extLst>
          </p:cNvPr>
          <p:cNvSpPr txBox="1"/>
          <p:nvPr/>
        </p:nvSpPr>
        <p:spPr>
          <a:xfrm>
            <a:off x="456236" y="3544067"/>
            <a:ext cx="9815700" cy="7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lnSpc>
                <a:spcPct val="107916"/>
              </a:lnSpc>
              <a:buClr>
                <a:schemeClr val="dk1"/>
              </a:buClr>
              <a:buSzPts val="1100"/>
            </a:pPr>
            <a:r>
              <a:rPr lang="es-CO" sz="3600" b="1" dirty="0"/>
              <a:t>Módulo 4 – </a:t>
            </a:r>
            <a:r>
              <a:rPr lang="es-CO" sz="36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Estructura</a:t>
            </a:r>
            <a:endParaRPr sz="3900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Google Shape;140;g3a8cb5ef095_0_5">
            <a:extLst>
              <a:ext uri="{FF2B5EF4-FFF2-40B4-BE49-F238E27FC236}">
                <a16:creationId xmlns:a16="http://schemas.microsoft.com/office/drawing/2014/main" id="{094B1B4A-0060-44CB-AAD5-64BB736A87F9}"/>
              </a:ext>
            </a:extLst>
          </p:cNvPr>
          <p:cNvSpPr txBox="1"/>
          <p:nvPr/>
        </p:nvSpPr>
        <p:spPr>
          <a:xfrm>
            <a:off x="456236" y="4285667"/>
            <a:ext cx="10307100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s-419" sz="2000" b="1" dirty="0"/>
              <a:t>Objetivo:</a:t>
            </a:r>
            <a:r>
              <a:rPr lang="es-419" sz="2000" dirty="0"/>
              <a:t> Administrar conjuntos residenciales, puestos de vigilancia y cuentas de usuarios del sistema.</a:t>
            </a:r>
            <a:endParaRPr lang="es-CO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44">
          <a:extLst>
            <a:ext uri="{FF2B5EF4-FFF2-40B4-BE49-F238E27FC236}">
              <a16:creationId xmlns:a16="http://schemas.microsoft.com/office/drawing/2014/main" id="{4D274BA4-DF65-0D90-096A-86FEC3FCD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39;g3a8cb5ef095_0_5">
            <a:extLst>
              <a:ext uri="{FF2B5EF4-FFF2-40B4-BE49-F238E27FC236}">
                <a16:creationId xmlns:a16="http://schemas.microsoft.com/office/drawing/2014/main" id="{2FDEC17A-5E44-6613-EEDA-DFABEA962BA7}"/>
              </a:ext>
            </a:extLst>
          </p:cNvPr>
          <p:cNvSpPr txBox="1"/>
          <p:nvPr/>
        </p:nvSpPr>
        <p:spPr>
          <a:xfrm>
            <a:off x="456236" y="1067752"/>
            <a:ext cx="9815700" cy="7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lnSpc>
                <a:spcPct val="107916"/>
              </a:lnSpc>
              <a:buClr>
                <a:schemeClr val="dk1"/>
              </a:buClr>
              <a:buSzPts val="1100"/>
            </a:pPr>
            <a:r>
              <a:rPr lang="es-CO" sz="3600" b="1" dirty="0"/>
              <a:t>Módulo 5 – </a:t>
            </a:r>
            <a:r>
              <a:rPr lang="es-CO" sz="3600" b="1" dirty="0">
                <a:solidFill>
                  <a:srgbClr val="FFCCFF"/>
                </a:solidFill>
              </a:rPr>
              <a:t>Catálogos</a:t>
            </a:r>
            <a:endParaRPr sz="3900" b="1" dirty="0">
              <a:solidFill>
                <a:srgbClr val="FFCCFF"/>
              </a:solidFill>
            </a:endParaRPr>
          </a:p>
        </p:txBody>
      </p:sp>
      <p:sp>
        <p:nvSpPr>
          <p:cNvPr id="5" name="Google Shape;140;g3a8cb5ef095_0_5">
            <a:extLst>
              <a:ext uri="{FF2B5EF4-FFF2-40B4-BE49-F238E27FC236}">
                <a16:creationId xmlns:a16="http://schemas.microsoft.com/office/drawing/2014/main" id="{9767938E-1238-3066-D31C-55B834E41E90}"/>
              </a:ext>
            </a:extLst>
          </p:cNvPr>
          <p:cNvSpPr txBox="1"/>
          <p:nvPr/>
        </p:nvSpPr>
        <p:spPr>
          <a:xfrm>
            <a:off x="456236" y="1905815"/>
            <a:ext cx="10307100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s-419" sz="2000" b="1" dirty="0"/>
              <a:t>Objetivo:</a:t>
            </a:r>
            <a:r>
              <a:rPr lang="es-419" sz="2000" dirty="0"/>
              <a:t> Centralizar tablas maestras de documentos, roles, teléfonos y clasificaciones generales.</a:t>
            </a:r>
            <a:endParaRPr lang="es-CO" sz="2000" dirty="0"/>
          </a:p>
        </p:txBody>
      </p:sp>
      <p:sp>
        <p:nvSpPr>
          <p:cNvPr id="6" name="Google Shape;139;g3a8cb5ef095_0_5">
            <a:extLst>
              <a:ext uri="{FF2B5EF4-FFF2-40B4-BE49-F238E27FC236}">
                <a16:creationId xmlns:a16="http://schemas.microsoft.com/office/drawing/2014/main" id="{89A92ACA-EED7-6D0D-0510-C21F50280F17}"/>
              </a:ext>
            </a:extLst>
          </p:cNvPr>
          <p:cNvSpPr txBox="1"/>
          <p:nvPr/>
        </p:nvSpPr>
        <p:spPr>
          <a:xfrm>
            <a:off x="456236" y="3544067"/>
            <a:ext cx="9815700" cy="7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lnSpc>
                <a:spcPct val="107916"/>
              </a:lnSpc>
              <a:buClr>
                <a:schemeClr val="dk1"/>
              </a:buClr>
              <a:buSzPts val="1100"/>
            </a:pPr>
            <a:r>
              <a:rPr lang="es-CO" sz="3600" b="1" dirty="0"/>
              <a:t>Módulo 6 – </a:t>
            </a:r>
            <a:r>
              <a:rPr lang="es-CO" sz="36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Incidencias</a:t>
            </a:r>
            <a:endParaRPr sz="39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Google Shape;140;g3a8cb5ef095_0_5">
            <a:extLst>
              <a:ext uri="{FF2B5EF4-FFF2-40B4-BE49-F238E27FC236}">
                <a16:creationId xmlns:a16="http://schemas.microsoft.com/office/drawing/2014/main" id="{939375D5-0965-98F1-4170-33785B43FCDF}"/>
              </a:ext>
            </a:extLst>
          </p:cNvPr>
          <p:cNvSpPr txBox="1"/>
          <p:nvPr/>
        </p:nvSpPr>
        <p:spPr>
          <a:xfrm>
            <a:off x="456236" y="4285667"/>
            <a:ext cx="10307100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s-419" sz="2000" b="1" dirty="0"/>
              <a:t>Objetivo:</a:t>
            </a:r>
            <a:r>
              <a:rPr lang="es-419" sz="2000" dirty="0"/>
              <a:t> Registrar novedades, objetos perdidos, encomiendas, evidencias y contingencias de seguridad.</a:t>
            </a:r>
            <a:endParaRPr lang="es-CO" sz="2000" dirty="0"/>
          </a:p>
        </p:txBody>
      </p:sp>
    </p:spTree>
    <p:extLst>
      <p:ext uri="{BB962C8B-B14F-4D97-AF65-F5344CB8AC3E}">
        <p14:creationId xmlns:p14="http://schemas.microsoft.com/office/powerpoint/2010/main" val="20673753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</TotalTime>
  <Words>276</Words>
  <Application>Microsoft Office PowerPoint</Application>
  <PresentationFormat>Panorámica</PresentationFormat>
  <Paragraphs>35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8" baseType="lpstr">
      <vt:lpstr>Arial</vt:lpstr>
      <vt:lpstr>Times New Roman</vt:lpstr>
      <vt:lpstr>Work Sans</vt:lpstr>
      <vt:lpstr>Cambria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Jorge Enrique Pedraza Sanchez</dc:creator>
  <cp:lastModifiedBy>Aprendiz</cp:lastModifiedBy>
  <cp:revision>9</cp:revision>
  <dcterms:created xsi:type="dcterms:W3CDTF">2020-10-01T23:51:28Z</dcterms:created>
  <dcterms:modified xsi:type="dcterms:W3CDTF">2026-08-21T17:43:26Z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299739c-ad3d-4908-806e-4d91151a6e13_Enabled">
    <vt:lpwstr>true</vt:lpwstr>
  </property>
  <property fmtid="{D5CDD505-2E9C-101B-9397-08002B2CF9AE}" pid="3" name="MSIP_Label_1299739c-ad3d-4908-806e-4d91151a6e13_Method">
    <vt:lpwstr>Standard</vt:lpwstr>
  </property>
  <property fmtid="{D5CDD505-2E9C-101B-9397-08002B2CF9AE}" pid="4" name="MSIP_Label_1299739c-ad3d-4908-806e-4d91151a6e13_Name">
    <vt:lpwstr>All Employees (Unrestricted)</vt:lpwstr>
  </property>
  <property fmtid="{D5CDD505-2E9C-101B-9397-08002B2CF9AE}" pid="5" name="MSIP_Label_1299739c-ad3d-4908-806e-4d91151a6e13_SiteId">
    <vt:lpwstr>cbc2c381-2f2e-4d93-91d1-506c9316ace7</vt:lpwstr>
  </property>
  <property fmtid="{D5CDD505-2E9C-101B-9397-08002B2CF9AE}" pid="6" name="MSIP_Label_1299739c-ad3d-4908-806e-4d91151a6e13_ContentBits">
    <vt:lpwstr>0</vt:lpwstr>
  </property>
  <property fmtid="{D5CDD505-2E9C-101B-9397-08002B2CF9AE}" pid="7" name="MSIP_Label_1299739c-ad3d-4908-806e-4d91151a6e13_SetDate">
    <vt:lpwstr>2022-08-12T19:17:55Z</vt:lpwstr>
  </property>
  <property fmtid="{D5CDD505-2E9C-101B-9397-08002B2CF9AE}" pid="8" name="MSIP_Label_1299739c-ad3d-4908-806e-4d91151a6e13_ActionId">
    <vt:lpwstr>8c6bc714-34a9-4b82-914e-50b1377a2da4</vt:lpwstr>
  </property>
</Properties>
</file>